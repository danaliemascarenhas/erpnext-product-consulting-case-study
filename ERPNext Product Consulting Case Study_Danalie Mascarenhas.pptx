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oca Two Bold" charset="1" panose="00000800000000000000"/>
      <p:regular r:id="rId14"/>
    </p:embeddedFont>
    <p:embeddedFont>
      <p:font typeface="TT Chocolates Bold" charset="1" panose="02000803020000020003"/>
      <p:regular r:id="rId15"/>
    </p:embeddedFont>
    <p:embeddedFont>
      <p:font typeface="TT Chocolates" charset="1" panose="02000503020000020003"/>
      <p:regular r:id="rId16"/>
    </p:embeddedFont>
    <p:embeddedFont>
      <p:font typeface="Roca Two Bold Italics" charset="1" panose="00000800000000000000"/>
      <p:regular r:id="rId17"/>
    </p:embeddedFont>
    <p:embeddedFont>
      <p:font typeface="TT Chocolates Italics" charset="1" panose="02000503020000090003"/>
      <p:regular r:id="rId18"/>
    </p:embeddedFont>
    <p:embeddedFont>
      <p:font typeface="Roca Two" charset="1" panose="00000500000000000000"/>
      <p:regular r:id="rId19"/>
    </p:embeddedFont>
    <p:embeddedFont>
      <p:font typeface="Roca Two Italics" charset="1" panose="000004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9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04192" y="774296"/>
            <a:ext cx="6547795" cy="6220406"/>
          </a:xfrm>
          <a:custGeom>
            <a:avLst/>
            <a:gdLst/>
            <a:ahLst/>
            <a:cxnLst/>
            <a:rect r="r" b="b" t="t" l="l"/>
            <a:pathLst>
              <a:path h="6220406" w="6547795">
                <a:moveTo>
                  <a:pt x="0" y="0"/>
                </a:moveTo>
                <a:lnTo>
                  <a:pt x="6547796" y="0"/>
                </a:lnTo>
                <a:lnTo>
                  <a:pt x="6547796" y="6220405"/>
                </a:lnTo>
                <a:lnTo>
                  <a:pt x="0" y="622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7429" y="1528283"/>
            <a:ext cx="11341766" cy="3086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9"/>
              </a:lnSpc>
            </a:pPr>
            <a:r>
              <a:rPr lang="en-US" sz="14023" spc="-1065" b="true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Cafe Myriade  x  ERPNext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7429" y="4219140"/>
            <a:ext cx="8329127" cy="514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44312B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Product Consulting Case Study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69174" y="8454360"/>
            <a:ext cx="2749651" cy="382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September 1,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94463" y="8004144"/>
            <a:ext cx="5264186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T Chocolates"/>
                <a:ea typeface="TT Chocolates"/>
                <a:cs typeface="TT Chocolates"/>
                <a:sym typeface="TT Chocolates"/>
              </a:rPr>
              <a:t>by Danalie Mascarenhas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7429" y="4956659"/>
            <a:ext cx="10171843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44312B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Exploring how an ERP System could support business operations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7993" y="726115"/>
            <a:ext cx="11410963" cy="229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5"/>
              </a:lnSpc>
            </a:pPr>
            <a:r>
              <a:rPr lang="en-US" sz="10457" spc="-648" b="true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Understanding the Business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76738" y="3123408"/>
            <a:ext cx="6192973" cy="833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905"/>
              </a:lnSpc>
            </a:pPr>
            <a:r>
              <a:rPr lang="en-US" b="true" sz="7201" i="true" spc="-547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Cafe  Myriade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66842" y="4898754"/>
            <a:ext cx="5815794" cy="699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</a:pPr>
            <a:r>
              <a:rPr lang="en-US" sz="5998" spc="-455" b="true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Discovery  Areas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14092" y="5967836"/>
            <a:ext cx="3623453" cy="64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b="true" sz="5598" spc="-425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Operations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94447" y="6781094"/>
            <a:ext cx="5700141" cy="250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81823" indent="-640911" lvl="1">
              <a:lnSpc>
                <a:spcPts val="4868"/>
              </a:lnSpc>
              <a:buFont typeface="Arial"/>
              <a:buChar char="•"/>
            </a:pPr>
            <a:r>
              <a:rPr lang="en-US" b="true" sz="5937" spc="-451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Inventory </a:t>
            </a:r>
          </a:p>
          <a:p>
            <a:pPr algn="l" marL="1281823" indent="-640911" lvl="1">
              <a:lnSpc>
                <a:spcPts val="4868"/>
              </a:lnSpc>
              <a:buFont typeface="Arial"/>
              <a:buChar char="•"/>
            </a:pPr>
            <a:r>
              <a:rPr lang="en-US" b="true" sz="5937" spc="-451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Purchasing </a:t>
            </a:r>
          </a:p>
          <a:p>
            <a:pPr algn="l" marL="1281823" indent="-640911" lvl="1">
              <a:lnSpc>
                <a:spcPts val="4868"/>
              </a:lnSpc>
              <a:buFont typeface="Arial"/>
              <a:buChar char="•"/>
            </a:pPr>
            <a:r>
              <a:rPr lang="en-US" b="true" sz="5937" spc="-451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Sales</a:t>
            </a:r>
          </a:p>
          <a:p>
            <a:pPr algn="l" marL="1281823" indent="-640911" lvl="1">
              <a:lnSpc>
                <a:spcPts val="4868"/>
              </a:lnSpc>
              <a:buFont typeface="Arial"/>
              <a:buChar char="•"/>
            </a:pPr>
            <a:r>
              <a:rPr lang="en-US" b="true" sz="5937" spc="-451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Fulfillment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74739" y="5920381"/>
            <a:ext cx="6832163" cy="641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b="true" sz="5598" spc="-425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Business  Performance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06494" y="6781094"/>
            <a:ext cx="8293482" cy="250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81823" indent="-640911" lvl="1">
              <a:lnSpc>
                <a:spcPts val="4868"/>
              </a:lnSpc>
              <a:buFont typeface="Arial"/>
              <a:buChar char="•"/>
            </a:pPr>
            <a:r>
              <a:rPr lang="en-US" b="true" sz="5937" spc="-451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Profitability </a:t>
            </a:r>
          </a:p>
          <a:p>
            <a:pPr algn="l" marL="1281823" indent="-640911" lvl="1">
              <a:lnSpc>
                <a:spcPts val="4868"/>
              </a:lnSpc>
              <a:buFont typeface="Arial"/>
              <a:buChar char="•"/>
            </a:pPr>
            <a:r>
              <a:rPr lang="en-US" b="true" sz="5937" spc="-451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Marketing </a:t>
            </a:r>
          </a:p>
          <a:p>
            <a:pPr algn="l" marL="1281823" indent="-640911" lvl="1">
              <a:lnSpc>
                <a:spcPts val="4868"/>
              </a:lnSpc>
              <a:buFont typeface="Arial"/>
              <a:buChar char="•"/>
            </a:pPr>
            <a:r>
              <a:rPr lang="en-US" b="true" sz="5937" spc="-451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Growth</a:t>
            </a:r>
          </a:p>
          <a:p>
            <a:pPr algn="l" marL="1281823" indent="-640911" lvl="1">
              <a:lnSpc>
                <a:spcPts val="4868"/>
              </a:lnSpc>
              <a:buFont typeface="Arial"/>
              <a:buChar char="•"/>
            </a:pPr>
            <a:r>
              <a:rPr lang="en-US" b="true" sz="5937" spc="-451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People &amp; Performance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7993" y="9344094"/>
            <a:ext cx="15386215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i="true">
                <a:solidFill>
                  <a:srgbClr val="44312B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Understanding how the business operates, where information is used and how decisions are made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204192" y="774296"/>
            <a:ext cx="6547795" cy="6220406"/>
          </a:xfrm>
          <a:custGeom>
            <a:avLst/>
            <a:gdLst/>
            <a:ahLst/>
            <a:cxnLst/>
            <a:rect r="r" b="b" t="t" l="l"/>
            <a:pathLst>
              <a:path h="6220406" w="6547795">
                <a:moveTo>
                  <a:pt x="0" y="0"/>
                </a:moveTo>
                <a:lnTo>
                  <a:pt x="6547796" y="0"/>
                </a:lnTo>
                <a:lnTo>
                  <a:pt x="6547796" y="6220405"/>
                </a:lnTo>
                <a:lnTo>
                  <a:pt x="0" y="622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7993" y="866995"/>
            <a:ext cx="11410963" cy="12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5"/>
              </a:lnSpc>
            </a:pPr>
            <a:r>
              <a:rPr lang="en-US" sz="10457" spc="-648" b="true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Key Observations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7919" y="2479463"/>
            <a:ext cx="7780555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499" indent="-539749" lvl="1">
              <a:lnSpc>
                <a:spcPts val="4099"/>
              </a:lnSpc>
              <a:buFont typeface="Arial"/>
              <a:buChar char="•"/>
            </a:pPr>
            <a:r>
              <a:rPr lang="en-US" b="true" sz="4999" spc="-379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Fragmented   Information 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7919" y="3275473"/>
            <a:ext cx="16064747" cy="159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4999" spc="-209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In</a:t>
            </a:r>
            <a:r>
              <a:rPr lang="en-US" sz="4999" spc="-209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formation is spread across different parts of the business, limiting visibility</a:t>
            </a:r>
          </a:p>
          <a:p>
            <a:pPr algn="l">
              <a:lnSpc>
                <a:spcPts val="409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67919" y="5059823"/>
            <a:ext cx="7396341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499" indent="-539749" lvl="1">
              <a:lnSpc>
                <a:spcPts val="4099"/>
              </a:lnSpc>
              <a:buFont typeface="Arial"/>
              <a:buChar char="•"/>
            </a:pPr>
            <a:r>
              <a:rPr lang="en-US" b="true" sz="4999" spc="-379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Limited  Quantification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670854"/>
            <a:ext cx="15914734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4999" spc="-209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Business decisions can heavily rely on experience and judgement where measurable data is limited.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7919" y="7131353"/>
            <a:ext cx="7455728" cy="56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499" indent="-539749" lvl="1">
              <a:lnSpc>
                <a:spcPts val="4099"/>
              </a:lnSpc>
              <a:buFont typeface="Arial"/>
              <a:buChar char="•"/>
            </a:pPr>
            <a:r>
              <a:rPr lang="en-US" b="true" sz="4999" spc="-379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Disorganized   Tracking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925103"/>
            <a:ext cx="16230600" cy="107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9"/>
              </a:lnSpc>
            </a:pPr>
            <a:r>
              <a:rPr lang="en-US" sz="4999" spc="-209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Existing records may not be structured to easily connect information, identify trends, or support timely decisions.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7919" y="9137953"/>
            <a:ext cx="16425491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i="true">
                <a:solidFill>
                  <a:srgbClr val="44312B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These challenges can make it difficult to develop a connected, data-informed view of the business. 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204192" y="774296"/>
            <a:ext cx="6547795" cy="6220406"/>
          </a:xfrm>
          <a:custGeom>
            <a:avLst/>
            <a:gdLst/>
            <a:ahLst/>
            <a:cxnLst/>
            <a:rect r="r" b="b" t="t" l="l"/>
            <a:pathLst>
              <a:path h="6220406" w="6547795">
                <a:moveTo>
                  <a:pt x="0" y="0"/>
                </a:moveTo>
                <a:lnTo>
                  <a:pt x="6547796" y="0"/>
                </a:lnTo>
                <a:lnTo>
                  <a:pt x="6547796" y="6220405"/>
                </a:lnTo>
                <a:lnTo>
                  <a:pt x="0" y="622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7993" y="866995"/>
            <a:ext cx="14825725" cy="12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5"/>
              </a:lnSpc>
            </a:pPr>
            <a:r>
              <a:rPr lang="en-US" sz="10457" spc="-648" b="true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Defining the Opportunity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7993" y="2006691"/>
            <a:ext cx="17049056" cy="151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b="true" sz="4999" i="true" spc="-209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F</a:t>
            </a:r>
            <a:r>
              <a:rPr lang="en-US" b="true" sz="4999" i="true" spc="-209" u="sng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ocus: </a:t>
            </a:r>
            <a:r>
              <a:rPr lang="en-US" b="true" sz="4999" i="true" spc="-209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Inventory Replenishment</a:t>
            </a:r>
          </a:p>
          <a:p>
            <a:pPr algn="l">
              <a:lnSpc>
                <a:spcPts val="5549"/>
              </a:lnSpc>
            </a:pPr>
            <a:r>
              <a:rPr lang="en-US" sz="4999" i="true" spc="-209">
                <a:solidFill>
                  <a:srgbClr val="44312B"/>
                </a:solidFill>
                <a:latin typeface="Roca Two Italics"/>
                <a:ea typeface="Roca Two Italics"/>
                <a:cs typeface="Roca Two Italics"/>
                <a:sym typeface="Roca Two Italics"/>
              </a:rPr>
              <a:t>“</a:t>
            </a:r>
            <a:r>
              <a:rPr lang="en-US" sz="4999" i="true" spc="-209">
                <a:solidFill>
                  <a:srgbClr val="44312B"/>
                </a:solidFill>
                <a:latin typeface="Roca Two Italics"/>
                <a:ea typeface="Roca Two Italics"/>
                <a:cs typeface="Roca Two Italics"/>
                <a:sym typeface="Roca Two Italics"/>
              </a:rPr>
              <a:t>When should we replenish, and how much should we order? 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7993" y="3861522"/>
            <a:ext cx="16425491" cy="429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spc="-209" b="true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To answer this, we need visibility into: </a:t>
            </a:r>
          </a:p>
          <a:p>
            <a:pPr algn="l" marL="1079499" indent="-539749" lvl="1">
              <a:lnSpc>
                <a:spcPts val="5549"/>
              </a:lnSpc>
              <a:buFont typeface="Arial"/>
              <a:buChar char="•"/>
            </a:pPr>
            <a:r>
              <a:rPr lang="en-US" sz="4999" i="true" spc="-209">
                <a:solidFill>
                  <a:srgbClr val="44312B"/>
                </a:solidFill>
                <a:latin typeface="Roca Two Italics"/>
                <a:ea typeface="Roca Two Italics"/>
                <a:cs typeface="Roca Two Italics"/>
                <a:sym typeface="Roca Two Italics"/>
              </a:rPr>
              <a:t>Current Stock </a:t>
            </a:r>
          </a:p>
          <a:p>
            <a:pPr algn="l" marL="1079499" indent="-539749" lvl="1">
              <a:lnSpc>
                <a:spcPts val="5549"/>
              </a:lnSpc>
              <a:buFont typeface="Arial"/>
              <a:buChar char="•"/>
            </a:pPr>
            <a:r>
              <a:rPr lang="en-US" sz="4999" i="true" spc="-209">
                <a:solidFill>
                  <a:srgbClr val="44312B"/>
                </a:solidFill>
                <a:latin typeface="Roca Two Italics"/>
                <a:ea typeface="Roca Two Italics"/>
                <a:cs typeface="Roca Two Italics"/>
                <a:sym typeface="Roca Two Italics"/>
              </a:rPr>
              <a:t>Demand </a:t>
            </a:r>
          </a:p>
          <a:p>
            <a:pPr algn="l" marL="1079499" indent="-539749" lvl="1">
              <a:lnSpc>
                <a:spcPts val="5549"/>
              </a:lnSpc>
              <a:buFont typeface="Arial"/>
              <a:buChar char="•"/>
            </a:pPr>
            <a:r>
              <a:rPr lang="en-US" sz="4999" i="true" spc="-209">
                <a:solidFill>
                  <a:srgbClr val="44312B"/>
                </a:solidFill>
                <a:latin typeface="Roca Two Italics"/>
                <a:ea typeface="Roca Two Italics"/>
                <a:cs typeface="Roca Two Italics"/>
                <a:sym typeface="Roca Two Italics"/>
              </a:rPr>
              <a:t>Incoming Orders </a:t>
            </a:r>
          </a:p>
          <a:p>
            <a:pPr algn="l" marL="1079499" indent="-539749" lvl="1">
              <a:lnSpc>
                <a:spcPts val="5549"/>
              </a:lnSpc>
              <a:buFont typeface="Arial"/>
              <a:buChar char="•"/>
            </a:pPr>
            <a:r>
              <a:rPr lang="en-US" sz="4999" i="true" spc="-209">
                <a:solidFill>
                  <a:srgbClr val="44312B"/>
                </a:solidFill>
                <a:latin typeface="Roca Two Italics"/>
                <a:ea typeface="Roca Two Italics"/>
                <a:cs typeface="Roca Two Italics"/>
                <a:sym typeface="Roca Two Italics"/>
              </a:rPr>
              <a:t>Supplier Lead Time</a:t>
            </a:r>
          </a:p>
          <a:p>
            <a:pPr algn="l" marL="1079499" indent="-539749" lvl="1">
              <a:lnSpc>
                <a:spcPts val="5549"/>
              </a:lnSpc>
              <a:buFont typeface="Arial"/>
              <a:buChar char="•"/>
            </a:pPr>
            <a:r>
              <a:rPr lang="en-US" sz="4999" i="true" spc="-209">
                <a:solidFill>
                  <a:srgbClr val="44312B"/>
                </a:solidFill>
                <a:latin typeface="Roca Two Italics"/>
                <a:ea typeface="Roca Two Italics"/>
                <a:cs typeface="Roca Two Italics"/>
                <a:sym typeface="Roca Two Italics"/>
              </a:rPr>
              <a:t>Storage Constraints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5204192" y="774296"/>
            <a:ext cx="6547795" cy="6220406"/>
          </a:xfrm>
          <a:custGeom>
            <a:avLst/>
            <a:gdLst/>
            <a:ahLst/>
            <a:cxnLst/>
            <a:rect r="r" b="b" t="t" l="l"/>
            <a:pathLst>
              <a:path h="6220406" w="6547795">
                <a:moveTo>
                  <a:pt x="0" y="0"/>
                </a:moveTo>
                <a:lnTo>
                  <a:pt x="6547796" y="0"/>
                </a:lnTo>
                <a:lnTo>
                  <a:pt x="6547796" y="6220405"/>
                </a:lnTo>
                <a:lnTo>
                  <a:pt x="0" y="622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8999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47993" y="4140534"/>
            <a:ext cx="4358943" cy="1416656"/>
          </a:xfrm>
          <a:custGeom>
            <a:avLst/>
            <a:gdLst/>
            <a:ahLst/>
            <a:cxnLst/>
            <a:rect r="r" b="b" t="t" l="l"/>
            <a:pathLst>
              <a:path h="1416656" w="4358943">
                <a:moveTo>
                  <a:pt x="0" y="0"/>
                </a:moveTo>
                <a:lnTo>
                  <a:pt x="4358942" y="0"/>
                </a:lnTo>
                <a:lnTo>
                  <a:pt x="4358942" y="1416656"/>
                </a:lnTo>
                <a:lnTo>
                  <a:pt x="0" y="141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04192" y="774296"/>
            <a:ext cx="6547795" cy="6220406"/>
          </a:xfrm>
          <a:custGeom>
            <a:avLst/>
            <a:gdLst/>
            <a:ahLst/>
            <a:cxnLst/>
            <a:rect r="r" b="b" t="t" l="l"/>
            <a:pathLst>
              <a:path h="6220406" w="6547795">
                <a:moveTo>
                  <a:pt x="0" y="0"/>
                </a:moveTo>
                <a:lnTo>
                  <a:pt x="6547796" y="0"/>
                </a:lnTo>
                <a:lnTo>
                  <a:pt x="6547796" y="6220405"/>
                </a:lnTo>
                <a:lnTo>
                  <a:pt x="0" y="6220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4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56711" y="4496164"/>
            <a:ext cx="4358943" cy="1416656"/>
          </a:xfrm>
          <a:custGeom>
            <a:avLst/>
            <a:gdLst/>
            <a:ahLst/>
            <a:cxnLst/>
            <a:rect r="r" b="b" t="t" l="l"/>
            <a:pathLst>
              <a:path h="1416656" w="4358943">
                <a:moveTo>
                  <a:pt x="0" y="0"/>
                </a:moveTo>
                <a:lnTo>
                  <a:pt x="4358942" y="0"/>
                </a:lnTo>
                <a:lnTo>
                  <a:pt x="4358942" y="1416656"/>
                </a:lnTo>
                <a:lnTo>
                  <a:pt x="0" y="14166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365428" y="4140534"/>
            <a:ext cx="4893872" cy="1590508"/>
          </a:xfrm>
          <a:custGeom>
            <a:avLst/>
            <a:gdLst/>
            <a:ahLst/>
            <a:cxnLst/>
            <a:rect r="r" b="b" t="t" l="l"/>
            <a:pathLst>
              <a:path h="1590508" w="4893872">
                <a:moveTo>
                  <a:pt x="0" y="0"/>
                </a:moveTo>
                <a:lnTo>
                  <a:pt x="4893872" y="0"/>
                </a:lnTo>
                <a:lnTo>
                  <a:pt x="4893872" y="1590508"/>
                </a:lnTo>
                <a:lnTo>
                  <a:pt x="0" y="15905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17510" y="8262593"/>
            <a:ext cx="5176438" cy="1682342"/>
          </a:xfrm>
          <a:custGeom>
            <a:avLst/>
            <a:gdLst/>
            <a:ahLst/>
            <a:cxnLst/>
            <a:rect r="r" b="b" t="t" l="l"/>
            <a:pathLst>
              <a:path h="1682342" w="5176438">
                <a:moveTo>
                  <a:pt x="0" y="0"/>
                </a:moveTo>
                <a:lnTo>
                  <a:pt x="5176438" y="0"/>
                </a:lnTo>
                <a:lnTo>
                  <a:pt x="5176438" y="1682343"/>
                </a:lnTo>
                <a:lnTo>
                  <a:pt x="0" y="168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216355" y="8262593"/>
            <a:ext cx="4553100" cy="1479757"/>
          </a:xfrm>
          <a:custGeom>
            <a:avLst/>
            <a:gdLst/>
            <a:ahLst/>
            <a:cxnLst/>
            <a:rect r="r" b="b" t="t" l="l"/>
            <a:pathLst>
              <a:path h="1479757" w="4553100">
                <a:moveTo>
                  <a:pt x="0" y="0"/>
                </a:moveTo>
                <a:lnTo>
                  <a:pt x="4553100" y="0"/>
                </a:lnTo>
                <a:lnTo>
                  <a:pt x="4553100" y="1479758"/>
                </a:lnTo>
                <a:lnTo>
                  <a:pt x="0" y="14797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380902">
            <a:off x="2927074" y="5653835"/>
            <a:ext cx="740774" cy="1322811"/>
          </a:xfrm>
          <a:custGeom>
            <a:avLst/>
            <a:gdLst/>
            <a:ahLst/>
            <a:cxnLst/>
            <a:rect r="r" b="b" t="t" l="l"/>
            <a:pathLst>
              <a:path h="1322811" w="740774">
                <a:moveTo>
                  <a:pt x="0" y="0"/>
                </a:moveTo>
                <a:lnTo>
                  <a:pt x="740774" y="0"/>
                </a:lnTo>
                <a:lnTo>
                  <a:pt x="740774" y="1322811"/>
                </a:lnTo>
                <a:lnTo>
                  <a:pt x="0" y="13228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283750" y="6865593"/>
            <a:ext cx="9720500" cy="77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spc="-209" b="true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Informed Replenishment Decision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8950334">
            <a:off x="9907857" y="7610361"/>
            <a:ext cx="726649" cy="1297588"/>
          </a:xfrm>
          <a:custGeom>
            <a:avLst/>
            <a:gdLst/>
            <a:ahLst/>
            <a:cxnLst/>
            <a:rect r="r" b="b" t="t" l="l"/>
            <a:pathLst>
              <a:path h="1297588" w="726649">
                <a:moveTo>
                  <a:pt x="726649" y="0"/>
                </a:moveTo>
                <a:lnTo>
                  <a:pt x="0" y="0"/>
                </a:lnTo>
                <a:lnTo>
                  <a:pt x="0" y="1297589"/>
                </a:lnTo>
                <a:lnTo>
                  <a:pt x="726649" y="1297589"/>
                </a:lnTo>
                <a:lnTo>
                  <a:pt x="72664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2925227">
            <a:off x="14152040" y="5836143"/>
            <a:ext cx="740774" cy="1322811"/>
          </a:xfrm>
          <a:custGeom>
            <a:avLst/>
            <a:gdLst/>
            <a:ahLst/>
            <a:cxnLst/>
            <a:rect r="r" b="b" t="t" l="l"/>
            <a:pathLst>
              <a:path h="1322811" w="740774">
                <a:moveTo>
                  <a:pt x="740774" y="0"/>
                </a:moveTo>
                <a:lnTo>
                  <a:pt x="0" y="0"/>
                </a:lnTo>
                <a:lnTo>
                  <a:pt x="0" y="1322811"/>
                </a:lnTo>
                <a:lnTo>
                  <a:pt x="740774" y="1322811"/>
                </a:lnTo>
                <a:lnTo>
                  <a:pt x="74077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8818937">
            <a:off x="7064306" y="7609036"/>
            <a:ext cx="726649" cy="1297588"/>
          </a:xfrm>
          <a:custGeom>
            <a:avLst/>
            <a:gdLst/>
            <a:ahLst/>
            <a:cxnLst/>
            <a:rect r="r" b="b" t="t" l="l"/>
            <a:pathLst>
              <a:path h="1297588" w="726649">
                <a:moveTo>
                  <a:pt x="0" y="0"/>
                </a:moveTo>
                <a:lnTo>
                  <a:pt x="726649" y="0"/>
                </a:lnTo>
                <a:lnTo>
                  <a:pt x="726649" y="1297588"/>
                </a:lnTo>
                <a:lnTo>
                  <a:pt x="0" y="1297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8200921" y="6269660"/>
            <a:ext cx="892101" cy="178420"/>
          </a:xfrm>
          <a:custGeom>
            <a:avLst/>
            <a:gdLst/>
            <a:ahLst/>
            <a:cxnLst/>
            <a:rect r="r" b="b" t="t" l="l"/>
            <a:pathLst>
              <a:path h="178420" w="892101">
                <a:moveTo>
                  <a:pt x="0" y="0"/>
                </a:moveTo>
                <a:lnTo>
                  <a:pt x="892101" y="0"/>
                </a:lnTo>
                <a:lnTo>
                  <a:pt x="892101" y="178421"/>
                </a:lnTo>
                <a:lnTo>
                  <a:pt x="0" y="178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47993" y="866995"/>
            <a:ext cx="14825725" cy="12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5"/>
              </a:lnSpc>
            </a:pPr>
            <a:r>
              <a:rPr lang="en-US" sz="10457" spc="-648" b="true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Defining the Requirements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7993" y="1955891"/>
            <a:ext cx="17049056" cy="156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 spc="-209" b="true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An ideal solution provides the information and controls needed to make timely, informed replenishment decisions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7993" y="4326721"/>
            <a:ext cx="4358943" cy="101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Inventory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Current Stock Levels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56711" y="4682352"/>
            <a:ext cx="4358943" cy="101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Incoming Supply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Expected Receipts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32893" y="4401117"/>
            <a:ext cx="4358943" cy="101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Demand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Orders and Consumption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80563" y="8569094"/>
            <a:ext cx="5050331" cy="101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Replenishment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Reorder Levels &amp; Quantities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16355" y="8467801"/>
            <a:ext cx="4358943" cy="1012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Procurement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Supplier and Lead Time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04192" y="774296"/>
            <a:ext cx="6547795" cy="6220406"/>
          </a:xfrm>
          <a:custGeom>
            <a:avLst/>
            <a:gdLst/>
            <a:ahLst/>
            <a:cxnLst/>
            <a:rect r="r" b="b" t="t" l="l"/>
            <a:pathLst>
              <a:path h="6220406" w="6547795">
                <a:moveTo>
                  <a:pt x="0" y="0"/>
                </a:moveTo>
                <a:lnTo>
                  <a:pt x="6547796" y="0"/>
                </a:lnTo>
                <a:lnTo>
                  <a:pt x="6547796" y="6220405"/>
                </a:lnTo>
                <a:lnTo>
                  <a:pt x="0" y="622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43682" y="4629279"/>
            <a:ext cx="3078652" cy="2462921"/>
          </a:xfrm>
          <a:custGeom>
            <a:avLst/>
            <a:gdLst/>
            <a:ahLst/>
            <a:cxnLst/>
            <a:rect r="r" b="b" t="t" l="l"/>
            <a:pathLst>
              <a:path h="2462921" w="3078652">
                <a:moveTo>
                  <a:pt x="0" y="0"/>
                </a:moveTo>
                <a:lnTo>
                  <a:pt x="3078651" y="0"/>
                </a:lnTo>
                <a:lnTo>
                  <a:pt x="3078651" y="2462921"/>
                </a:lnTo>
                <a:lnTo>
                  <a:pt x="0" y="2462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30104" y="4632871"/>
            <a:ext cx="3078652" cy="2462921"/>
          </a:xfrm>
          <a:custGeom>
            <a:avLst/>
            <a:gdLst/>
            <a:ahLst/>
            <a:cxnLst/>
            <a:rect r="r" b="b" t="t" l="l"/>
            <a:pathLst>
              <a:path h="2462921" w="3078652">
                <a:moveTo>
                  <a:pt x="0" y="0"/>
                </a:moveTo>
                <a:lnTo>
                  <a:pt x="3078652" y="0"/>
                </a:lnTo>
                <a:lnTo>
                  <a:pt x="3078652" y="2462921"/>
                </a:lnTo>
                <a:lnTo>
                  <a:pt x="0" y="2462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4268" y="3985800"/>
            <a:ext cx="2487128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Monitor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22147" y="3985800"/>
            <a:ext cx="2487128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Assess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40210" y="4593659"/>
            <a:ext cx="3078652" cy="2462921"/>
          </a:xfrm>
          <a:custGeom>
            <a:avLst/>
            <a:gdLst/>
            <a:ahLst/>
            <a:cxnLst/>
            <a:rect r="r" b="b" t="t" l="l"/>
            <a:pathLst>
              <a:path h="2462921" w="3078652">
                <a:moveTo>
                  <a:pt x="0" y="0"/>
                </a:moveTo>
                <a:lnTo>
                  <a:pt x="3078651" y="0"/>
                </a:lnTo>
                <a:lnTo>
                  <a:pt x="3078651" y="2462921"/>
                </a:lnTo>
                <a:lnTo>
                  <a:pt x="0" y="2462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53082" y="3985800"/>
            <a:ext cx="2487128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Decide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535122" y="4629279"/>
            <a:ext cx="2987299" cy="2389839"/>
          </a:xfrm>
          <a:custGeom>
            <a:avLst/>
            <a:gdLst/>
            <a:ahLst/>
            <a:cxnLst/>
            <a:rect r="r" b="b" t="t" l="l"/>
            <a:pathLst>
              <a:path h="2389839" w="2987299">
                <a:moveTo>
                  <a:pt x="0" y="0"/>
                </a:moveTo>
                <a:lnTo>
                  <a:pt x="2987299" y="0"/>
                </a:lnTo>
                <a:lnTo>
                  <a:pt x="2987299" y="2389839"/>
                </a:lnTo>
                <a:lnTo>
                  <a:pt x="0" y="2389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84000" y="3950181"/>
            <a:ext cx="2944035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Purchase 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611905" y="4593659"/>
            <a:ext cx="3006199" cy="2404959"/>
          </a:xfrm>
          <a:custGeom>
            <a:avLst/>
            <a:gdLst/>
            <a:ahLst/>
            <a:cxnLst/>
            <a:rect r="r" b="b" t="t" l="l"/>
            <a:pathLst>
              <a:path h="2404959" w="3006199">
                <a:moveTo>
                  <a:pt x="0" y="0"/>
                </a:moveTo>
                <a:lnTo>
                  <a:pt x="3006199" y="0"/>
                </a:lnTo>
                <a:lnTo>
                  <a:pt x="3006199" y="2404960"/>
                </a:lnTo>
                <a:lnTo>
                  <a:pt x="0" y="24049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126646" y="3985800"/>
            <a:ext cx="2487128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Receive 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021771" y="4194416"/>
            <a:ext cx="870287" cy="174057"/>
          </a:xfrm>
          <a:custGeom>
            <a:avLst/>
            <a:gdLst/>
            <a:ahLst/>
            <a:cxnLst/>
            <a:rect r="r" b="b" t="t" l="l"/>
            <a:pathLst>
              <a:path h="174057" w="870287">
                <a:moveTo>
                  <a:pt x="0" y="0"/>
                </a:moveTo>
                <a:lnTo>
                  <a:pt x="870287" y="0"/>
                </a:lnTo>
                <a:lnTo>
                  <a:pt x="870287" y="174058"/>
                </a:lnTo>
                <a:lnTo>
                  <a:pt x="0" y="174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769077" y="4194416"/>
            <a:ext cx="870287" cy="174057"/>
          </a:xfrm>
          <a:custGeom>
            <a:avLst/>
            <a:gdLst/>
            <a:ahLst/>
            <a:cxnLst/>
            <a:rect r="r" b="b" t="t" l="l"/>
            <a:pathLst>
              <a:path h="174057" w="870287">
                <a:moveTo>
                  <a:pt x="0" y="0"/>
                </a:moveTo>
                <a:lnTo>
                  <a:pt x="870287" y="0"/>
                </a:lnTo>
                <a:lnTo>
                  <a:pt x="870287" y="174058"/>
                </a:lnTo>
                <a:lnTo>
                  <a:pt x="0" y="174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599995" y="4194416"/>
            <a:ext cx="870287" cy="174057"/>
          </a:xfrm>
          <a:custGeom>
            <a:avLst/>
            <a:gdLst/>
            <a:ahLst/>
            <a:cxnLst/>
            <a:rect r="r" b="b" t="t" l="l"/>
            <a:pathLst>
              <a:path h="174057" w="870287">
                <a:moveTo>
                  <a:pt x="0" y="0"/>
                </a:moveTo>
                <a:lnTo>
                  <a:pt x="870287" y="0"/>
                </a:lnTo>
                <a:lnTo>
                  <a:pt x="870287" y="174058"/>
                </a:lnTo>
                <a:lnTo>
                  <a:pt x="0" y="174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042641" y="4194416"/>
            <a:ext cx="870287" cy="174057"/>
          </a:xfrm>
          <a:custGeom>
            <a:avLst/>
            <a:gdLst/>
            <a:ahLst/>
            <a:cxnLst/>
            <a:rect r="r" b="b" t="t" l="l"/>
            <a:pathLst>
              <a:path h="174057" w="870287">
                <a:moveTo>
                  <a:pt x="0" y="0"/>
                </a:moveTo>
                <a:lnTo>
                  <a:pt x="870287" y="0"/>
                </a:lnTo>
                <a:lnTo>
                  <a:pt x="870287" y="174058"/>
                </a:lnTo>
                <a:lnTo>
                  <a:pt x="0" y="174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087278" y="4230036"/>
            <a:ext cx="870287" cy="174057"/>
          </a:xfrm>
          <a:custGeom>
            <a:avLst/>
            <a:gdLst/>
            <a:ahLst/>
            <a:cxnLst/>
            <a:rect r="r" b="b" t="t" l="l"/>
            <a:pathLst>
              <a:path h="174057" w="870287">
                <a:moveTo>
                  <a:pt x="0" y="0"/>
                </a:moveTo>
                <a:lnTo>
                  <a:pt x="870286" y="0"/>
                </a:lnTo>
                <a:lnTo>
                  <a:pt x="870286" y="174057"/>
                </a:lnTo>
                <a:lnTo>
                  <a:pt x="0" y="174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47993" y="866995"/>
            <a:ext cx="14825725" cy="12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5"/>
              </a:lnSpc>
            </a:pPr>
            <a:r>
              <a:rPr lang="en-US" b="true" sz="10457" spc="-648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The Ideal Process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939" y="5236824"/>
            <a:ext cx="2549468" cy="116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500" spc="-105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Review current &amp; incoming stock levels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90462" y="5236824"/>
            <a:ext cx="2862168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500" spc="-105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Evaluate demand &amp; operational needs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143130" y="4629279"/>
            <a:ext cx="3078652" cy="2462921"/>
          </a:xfrm>
          <a:custGeom>
            <a:avLst/>
            <a:gdLst/>
            <a:ahLst/>
            <a:cxnLst/>
            <a:rect r="r" b="b" t="t" l="l"/>
            <a:pathLst>
              <a:path h="2462921" w="3078652">
                <a:moveTo>
                  <a:pt x="0" y="0"/>
                </a:moveTo>
                <a:lnTo>
                  <a:pt x="3078652" y="0"/>
                </a:lnTo>
                <a:lnTo>
                  <a:pt x="3078652" y="2462921"/>
                </a:lnTo>
                <a:lnTo>
                  <a:pt x="0" y="2462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255898" y="5236824"/>
            <a:ext cx="2862168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500" spc="-105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Establish timing &amp; required quantity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70282" y="5236824"/>
            <a:ext cx="2862168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500" spc="-105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Select supplier &amp; place purchase order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656986" y="5236824"/>
            <a:ext cx="2862168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500" spc="-105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Confirm quantity, quality, and delivery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547784" y="5236824"/>
            <a:ext cx="2862168" cy="77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5"/>
              </a:lnSpc>
            </a:pPr>
            <a:r>
              <a:rPr lang="en-US" sz="2500" spc="-105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Record receipt &amp; update inventory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042074" y="3985800"/>
            <a:ext cx="2487128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Update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04192" y="774296"/>
            <a:ext cx="6547795" cy="6220406"/>
          </a:xfrm>
          <a:custGeom>
            <a:avLst/>
            <a:gdLst/>
            <a:ahLst/>
            <a:cxnLst/>
            <a:rect r="r" b="b" t="t" l="l"/>
            <a:pathLst>
              <a:path h="6220406" w="6547795">
                <a:moveTo>
                  <a:pt x="0" y="0"/>
                </a:moveTo>
                <a:lnTo>
                  <a:pt x="6547796" y="0"/>
                </a:lnTo>
                <a:lnTo>
                  <a:pt x="6547796" y="6220405"/>
                </a:lnTo>
                <a:lnTo>
                  <a:pt x="0" y="622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43130" y="4670285"/>
            <a:ext cx="3078652" cy="2462921"/>
          </a:xfrm>
          <a:custGeom>
            <a:avLst/>
            <a:gdLst/>
            <a:ahLst/>
            <a:cxnLst/>
            <a:rect r="r" b="b" t="t" l="l"/>
            <a:pathLst>
              <a:path h="2462921" w="3078652">
                <a:moveTo>
                  <a:pt x="0" y="0"/>
                </a:moveTo>
                <a:lnTo>
                  <a:pt x="3078652" y="0"/>
                </a:lnTo>
                <a:lnTo>
                  <a:pt x="3078652" y="2462922"/>
                </a:lnTo>
                <a:lnTo>
                  <a:pt x="0" y="2462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43682" y="4670285"/>
            <a:ext cx="3078652" cy="2462921"/>
          </a:xfrm>
          <a:custGeom>
            <a:avLst/>
            <a:gdLst/>
            <a:ahLst/>
            <a:cxnLst/>
            <a:rect r="r" b="b" t="t" l="l"/>
            <a:pathLst>
              <a:path h="2462921" w="3078652">
                <a:moveTo>
                  <a:pt x="0" y="0"/>
                </a:moveTo>
                <a:lnTo>
                  <a:pt x="3078651" y="0"/>
                </a:lnTo>
                <a:lnTo>
                  <a:pt x="3078651" y="2462922"/>
                </a:lnTo>
                <a:lnTo>
                  <a:pt x="0" y="24629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30104" y="4673878"/>
            <a:ext cx="3078652" cy="2462921"/>
          </a:xfrm>
          <a:custGeom>
            <a:avLst/>
            <a:gdLst/>
            <a:ahLst/>
            <a:cxnLst/>
            <a:rect r="r" b="b" t="t" l="l"/>
            <a:pathLst>
              <a:path h="2462921" w="3078652">
                <a:moveTo>
                  <a:pt x="0" y="0"/>
                </a:moveTo>
                <a:lnTo>
                  <a:pt x="3078652" y="0"/>
                </a:lnTo>
                <a:lnTo>
                  <a:pt x="3078652" y="2462921"/>
                </a:lnTo>
                <a:lnTo>
                  <a:pt x="0" y="2462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04268" y="4026807"/>
            <a:ext cx="2487128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Monitor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22147" y="4026807"/>
            <a:ext cx="2487128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Assess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340210" y="4634666"/>
            <a:ext cx="3078652" cy="2462921"/>
          </a:xfrm>
          <a:custGeom>
            <a:avLst/>
            <a:gdLst/>
            <a:ahLst/>
            <a:cxnLst/>
            <a:rect r="r" b="b" t="t" l="l"/>
            <a:pathLst>
              <a:path h="2462921" w="3078652">
                <a:moveTo>
                  <a:pt x="0" y="0"/>
                </a:moveTo>
                <a:lnTo>
                  <a:pt x="3078651" y="0"/>
                </a:lnTo>
                <a:lnTo>
                  <a:pt x="3078651" y="2462921"/>
                </a:lnTo>
                <a:lnTo>
                  <a:pt x="0" y="24629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853082" y="4026807"/>
            <a:ext cx="2487128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Decide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535122" y="4670285"/>
            <a:ext cx="2987299" cy="2389839"/>
          </a:xfrm>
          <a:custGeom>
            <a:avLst/>
            <a:gdLst/>
            <a:ahLst/>
            <a:cxnLst/>
            <a:rect r="r" b="b" t="t" l="l"/>
            <a:pathLst>
              <a:path h="2389839" w="2987299">
                <a:moveTo>
                  <a:pt x="0" y="0"/>
                </a:moveTo>
                <a:lnTo>
                  <a:pt x="2987299" y="0"/>
                </a:lnTo>
                <a:lnTo>
                  <a:pt x="2987299" y="2389839"/>
                </a:lnTo>
                <a:lnTo>
                  <a:pt x="0" y="23898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84000" y="3991187"/>
            <a:ext cx="2944035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Purchase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5611905" y="4634666"/>
            <a:ext cx="3006199" cy="2404959"/>
          </a:xfrm>
          <a:custGeom>
            <a:avLst/>
            <a:gdLst/>
            <a:ahLst/>
            <a:cxnLst/>
            <a:rect r="r" b="b" t="t" l="l"/>
            <a:pathLst>
              <a:path h="2404959" w="3006199">
                <a:moveTo>
                  <a:pt x="0" y="0"/>
                </a:moveTo>
                <a:lnTo>
                  <a:pt x="3006199" y="0"/>
                </a:lnTo>
                <a:lnTo>
                  <a:pt x="3006199" y="2404959"/>
                </a:lnTo>
                <a:lnTo>
                  <a:pt x="0" y="2404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3000"/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126646" y="4026807"/>
            <a:ext cx="2487128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Receive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021771" y="4235423"/>
            <a:ext cx="870287" cy="174057"/>
          </a:xfrm>
          <a:custGeom>
            <a:avLst/>
            <a:gdLst/>
            <a:ahLst/>
            <a:cxnLst/>
            <a:rect r="r" b="b" t="t" l="l"/>
            <a:pathLst>
              <a:path h="174057" w="870287">
                <a:moveTo>
                  <a:pt x="0" y="0"/>
                </a:moveTo>
                <a:lnTo>
                  <a:pt x="870287" y="0"/>
                </a:lnTo>
                <a:lnTo>
                  <a:pt x="870287" y="174057"/>
                </a:lnTo>
                <a:lnTo>
                  <a:pt x="0" y="174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769077" y="4235423"/>
            <a:ext cx="870287" cy="174057"/>
          </a:xfrm>
          <a:custGeom>
            <a:avLst/>
            <a:gdLst/>
            <a:ahLst/>
            <a:cxnLst/>
            <a:rect r="r" b="b" t="t" l="l"/>
            <a:pathLst>
              <a:path h="174057" w="870287">
                <a:moveTo>
                  <a:pt x="0" y="0"/>
                </a:moveTo>
                <a:lnTo>
                  <a:pt x="870287" y="0"/>
                </a:lnTo>
                <a:lnTo>
                  <a:pt x="870287" y="174057"/>
                </a:lnTo>
                <a:lnTo>
                  <a:pt x="0" y="174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599995" y="4235423"/>
            <a:ext cx="870287" cy="174057"/>
          </a:xfrm>
          <a:custGeom>
            <a:avLst/>
            <a:gdLst/>
            <a:ahLst/>
            <a:cxnLst/>
            <a:rect r="r" b="b" t="t" l="l"/>
            <a:pathLst>
              <a:path h="174057" w="870287">
                <a:moveTo>
                  <a:pt x="0" y="0"/>
                </a:moveTo>
                <a:lnTo>
                  <a:pt x="870287" y="0"/>
                </a:lnTo>
                <a:lnTo>
                  <a:pt x="870287" y="174057"/>
                </a:lnTo>
                <a:lnTo>
                  <a:pt x="0" y="174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042641" y="4235423"/>
            <a:ext cx="870287" cy="174057"/>
          </a:xfrm>
          <a:custGeom>
            <a:avLst/>
            <a:gdLst/>
            <a:ahLst/>
            <a:cxnLst/>
            <a:rect r="r" b="b" t="t" l="l"/>
            <a:pathLst>
              <a:path h="174057" w="870287">
                <a:moveTo>
                  <a:pt x="0" y="0"/>
                </a:moveTo>
                <a:lnTo>
                  <a:pt x="870287" y="0"/>
                </a:lnTo>
                <a:lnTo>
                  <a:pt x="870287" y="174057"/>
                </a:lnTo>
                <a:lnTo>
                  <a:pt x="0" y="174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087278" y="4271042"/>
            <a:ext cx="870287" cy="174057"/>
          </a:xfrm>
          <a:custGeom>
            <a:avLst/>
            <a:gdLst/>
            <a:ahLst/>
            <a:cxnLst/>
            <a:rect r="r" b="b" t="t" l="l"/>
            <a:pathLst>
              <a:path h="174057" w="870287">
                <a:moveTo>
                  <a:pt x="0" y="0"/>
                </a:moveTo>
                <a:lnTo>
                  <a:pt x="870286" y="0"/>
                </a:lnTo>
                <a:lnTo>
                  <a:pt x="870286" y="174058"/>
                </a:lnTo>
                <a:lnTo>
                  <a:pt x="0" y="174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127939" y="5176019"/>
            <a:ext cx="2792182" cy="802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Sales Order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Stock Aging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05411" y="4744039"/>
            <a:ext cx="3007502" cy="279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Mat</a:t>
            </a: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erial Request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Request for Quotation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Supplier Quotation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Purchase Order</a:t>
            </a:r>
          </a:p>
          <a:p>
            <a:pPr algn="l">
              <a:lnSpc>
                <a:spcPts val="3170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747993" y="866995"/>
            <a:ext cx="17289465" cy="12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5"/>
              </a:lnSpc>
            </a:pPr>
            <a:r>
              <a:rPr lang="en-US" sz="10457" spc="-648" b="true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ERPNext Capability Mapping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042074" y="4026807"/>
            <a:ext cx="2487128" cy="64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</a:pPr>
            <a:r>
              <a:rPr lang="en-US" b="true" sz="4097" i="true" spc="-172">
                <a:solidFill>
                  <a:srgbClr val="44312B"/>
                </a:solidFill>
                <a:latin typeface="Roca Two Bold Italics"/>
                <a:ea typeface="Roca Two Bold Italics"/>
                <a:cs typeface="Roca Two Bold Italics"/>
                <a:sym typeface="Roca Two Bold Italics"/>
              </a:rPr>
              <a:t>Update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604" y="4968186"/>
            <a:ext cx="2487128" cy="200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Stock Balance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Stock Ledger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Stock Projected Quantity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86365" y="4744039"/>
            <a:ext cx="2792182" cy="2799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Re-order Leve</a:t>
            </a: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l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Re-order Qty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Automatically generate Material Requests</a:t>
            </a:r>
          </a:p>
          <a:p>
            <a:pPr algn="l">
              <a:lnSpc>
                <a:spcPts val="317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610734" y="4791029"/>
            <a:ext cx="2792182" cy="24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Pu</a:t>
            </a: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rchase Receipt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Quality Inspection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Putaway Rule</a:t>
            </a:r>
          </a:p>
          <a:p>
            <a:pPr algn="l">
              <a:lnSpc>
                <a:spcPts val="317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5486544" y="4968186"/>
            <a:ext cx="2792182" cy="2000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St</a:t>
            </a: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ock Ledger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Stock Balance</a:t>
            </a:r>
          </a:p>
          <a:p>
            <a:pPr algn="l" marL="547626" indent="-273813" lvl="1">
              <a:lnSpc>
                <a:spcPts val="3170"/>
              </a:lnSpc>
              <a:buFont typeface="Arial"/>
              <a:buChar char="•"/>
            </a:pPr>
            <a:r>
              <a:rPr lang="en-US" sz="2536" spc="-106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Stock Reconciliation</a:t>
            </a:r>
          </a:p>
          <a:p>
            <a:pPr algn="l">
              <a:lnSpc>
                <a:spcPts val="317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747993" y="2019391"/>
            <a:ext cx="10642186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059"/>
              </a:lnSpc>
              <a:spcBef>
                <a:spcPct val="0"/>
              </a:spcBef>
            </a:pPr>
            <a:r>
              <a:rPr lang="en-US" sz="2899" i="true">
                <a:solidFill>
                  <a:srgbClr val="44312B"/>
                </a:solidFill>
                <a:latin typeface="TT Chocolates Italics"/>
                <a:ea typeface="TT Chocolates Italics"/>
                <a:cs typeface="TT Chocolates Italics"/>
                <a:sym typeface="TT Chocolates Italics"/>
              </a:rPr>
              <a:t>Mapping ERPNext functionality to the ideal replenishment process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111" r="0" b="-1511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7993" y="866995"/>
            <a:ext cx="17289465" cy="120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75"/>
              </a:lnSpc>
            </a:pPr>
            <a:r>
              <a:rPr lang="en-US" sz="10457" spc="-648" b="true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Recommendation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69564" y="3673968"/>
            <a:ext cx="3623453" cy="63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b="true" sz="5398" spc="-410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Strong Fit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35194" y="4505979"/>
            <a:ext cx="6478164" cy="4720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17054" indent="-608527" lvl="1">
              <a:lnSpc>
                <a:spcPts val="4622"/>
              </a:lnSpc>
              <a:buFont typeface="Arial"/>
              <a:buChar char="•"/>
            </a:pPr>
            <a:r>
              <a:rPr lang="en-US" sz="5637" spc="-428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Inventory visibility</a:t>
            </a:r>
          </a:p>
          <a:p>
            <a:pPr algn="l" marL="1217054" indent="-608527" lvl="1">
              <a:lnSpc>
                <a:spcPts val="4622"/>
              </a:lnSpc>
              <a:buFont typeface="Arial"/>
              <a:buChar char="•"/>
            </a:pPr>
            <a:r>
              <a:rPr lang="en-US" sz="5637" spc="-428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Replenishment controls</a:t>
            </a:r>
          </a:p>
          <a:p>
            <a:pPr algn="l" marL="1217054" indent="-608527" lvl="1">
              <a:lnSpc>
                <a:spcPts val="4622"/>
              </a:lnSpc>
              <a:buFont typeface="Arial"/>
              <a:buChar char="•"/>
            </a:pPr>
            <a:r>
              <a:rPr lang="en-US" sz="5637" spc="-428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Procurement workflow</a:t>
            </a:r>
          </a:p>
          <a:p>
            <a:pPr algn="l" marL="1217054" indent="-608527" lvl="1">
              <a:lnSpc>
                <a:spcPts val="4622"/>
              </a:lnSpc>
              <a:buFont typeface="Arial"/>
              <a:buChar char="•"/>
            </a:pPr>
            <a:r>
              <a:rPr lang="en-US" sz="5637" spc="-428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Receiving &amp; stock updates</a:t>
            </a:r>
          </a:p>
          <a:p>
            <a:pPr algn="l">
              <a:lnSpc>
                <a:spcPts val="4622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8430211" y="3673968"/>
            <a:ext cx="8829089" cy="631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b="true" sz="5398" spc="-410" u="sng">
                <a:solidFill>
                  <a:srgbClr val="44312B"/>
                </a:solidFill>
                <a:latin typeface="Roca Two Bold"/>
                <a:ea typeface="Roca Two Bold"/>
                <a:cs typeface="Roca Two Bold"/>
                <a:sym typeface="Roca Two Bold"/>
              </a:rPr>
              <a:t>Requires Further Validation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13358" y="4505979"/>
            <a:ext cx="8293482" cy="2924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95465" indent="-597732" lvl="1">
              <a:lnSpc>
                <a:spcPts val="4540"/>
              </a:lnSpc>
              <a:buFont typeface="Arial"/>
              <a:buChar char="•"/>
            </a:pPr>
            <a:r>
              <a:rPr lang="en-US" sz="5537" spc="-420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Demand forecasting</a:t>
            </a:r>
          </a:p>
          <a:p>
            <a:pPr algn="l" marL="1195465" indent="-597732" lvl="1">
              <a:lnSpc>
                <a:spcPts val="4540"/>
              </a:lnSpc>
              <a:buFont typeface="Arial"/>
              <a:buChar char="•"/>
            </a:pPr>
            <a:r>
              <a:rPr lang="en-US" sz="5537" spc="-420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Supplier lead-time optimization</a:t>
            </a:r>
          </a:p>
          <a:p>
            <a:pPr algn="l" marL="1195465" indent="-597732" lvl="1">
              <a:lnSpc>
                <a:spcPts val="4540"/>
              </a:lnSpc>
              <a:buFont typeface="Arial"/>
              <a:buChar char="•"/>
            </a:pPr>
            <a:r>
              <a:rPr lang="en-US" sz="5537" spc="-420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Storage &amp; spoilage constraints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7993" y="2067016"/>
            <a:ext cx="15998795" cy="109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1"/>
              </a:lnSpc>
            </a:pPr>
            <a:r>
              <a:rPr lang="en-US" sz="3497" spc="-125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Takeaway: ERPNext demonstrates a strong fit for our core inventory replenishment workflow.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7993" y="9264302"/>
            <a:ext cx="15998795" cy="109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1"/>
              </a:lnSpc>
            </a:pPr>
            <a:r>
              <a:rPr lang="en-US" sz="3497" spc="-125">
                <a:solidFill>
                  <a:srgbClr val="44312B"/>
                </a:solidFill>
                <a:latin typeface="Roca Two"/>
                <a:ea typeface="Roca Two"/>
                <a:cs typeface="Roca Two"/>
                <a:sym typeface="Roca Two"/>
              </a:rPr>
              <a:t>Next Steps: Validate the identified gaps and configuration requirements before implementation.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204192" y="774296"/>
            <a:ext cx="6547795" cy="6220406"/>
          </a:xfrm>
          <a:custGeom>
            <a:avLst/>
            <a:gdLst/>
            <a:ahLst/>
            <a:cxnLst/>
            <a:rect r="r" b="b" t="t" l="l"/>
            <a:pathLst>
              <a:path h="6220406" w="6547795">
                <a:moveTo>
                  <a:pt x="0" y="0"/>
                </a:moveTo>
                <a:lnTo>
                  <a:pt x="6547796" y="0"/>
                </a:lnTo>
                <a:lnTo>
                  <a:pt x="6547796" y="6220405"/>
                </a:lnTo>
                <a:lnTo>
                  <a:pt x="0" y="62204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DAHT6cslXNc</dc:identifier>
  <dcterms:modified xsi:type="dcterms:W3CDTF">2011-08-01T06:04:30Z</dcterms:modified>
  <cp:revision>1</cp:revision>
  <dc:title>ERPNext Product Consulting Case Study_Danalie Mascarenhas</dc:title>
</cp:coreProperties>
</file>